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36" r:id="rId2"/>
    <p:sldId id="386" r:id="rId3"/>
    <p:sldId id="387" r:id="rId4"/>
    <p:sldId id="388" r:id="rId5"/>
    <p:sldId id="389" r:id="rId6"/>
    <p:sldId id="391" r:id="rId7"/>
    <p:sldId id="390" r:id="rId8"/>
    <p:sldId id="392" r:id="rId9"/>
    <p:sldId id="393" r:id="rId10"/>
    <p:sldId id="394" r:id="rId11"/>
    <p:sldId id="397" r:id="rId12"/>
    <p:sldId id="395" r:id="rId13"/>
    <p:sldId id="396" r:id="rId14"/>
    <p:sldId id="398" r:id="rId15"/>
    <p:sldId id="274" r:id="rId16"/>
  </p:sldIdLst>
  <p:sldSz cx="9144000" cy="6858000" type="screen4x3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9B00"/>
    <a:srgbClr val="34281E"/>
    <a:srgbClr val="000066"/>
    <a:srgbClr val="F8A6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5" autoAdjust="0"/>
    <p:restoredTop sz="94660"/>
  </p:normalViewPr>
  <p:slideViewPr>
    <p:cSldViewPr>
      <p:cViewPr varScale="1">
        <p:scale>
          <a:sx n="66" d="100"/>
          <a:sy n="66" d="100"/>
        </p:scale>
        <p:origin x="128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4128" y="-120"/>
      </p:cViewPr>
      <p:guideLst>
        <p:guide orient="horz" pos="3108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41199-BB89-4D67-9E7E-555C94B18BDB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EBF76-5915-4105-A3EE-C6FEBAF299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770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9374E-A779-413B-8C8C-C2EBF24629F9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333031-DD83-4549-8FC6-FA35AA02F8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27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333031-DD83-4549-8FC6-FA35AA02F88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22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28575"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6246812"/>
            <a:ext cx="9144000" cy="1588"/>
          </a:xfrm>
          <a:prstGeom prst="line">
            <a:avLst/>
          </a:prstGeom>
          <a:ln w="41275">
            <a:solidFill>
              <a:srgbClr val="F8A6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762000"/>
            <a:ext cx="8153400" cy="1588"/>
          </a:xfrm>
          <a:prstGeom prst="line">
            <a:avLst/>
          </a:prstGeom>
          <a:ln w="41275">
            <a:solidFill>
              <a:srgbClr val="F8A6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.png"/>
          <p:cNvPicPr>
            <a:picLocks noChangeAspect="1"/>
          </p:cNvPicPr>
          <p:nvPr userDrawn="1"/>
        </p:nvPicPr>
        <p:blipFill>
          <a:blip r:embed="rId2" cstate="print"/>
          <a:srcRect t="9130" b="17832"/>
          <a:stretch>
            <a:fillRect/>
          </a:stretch>
        </p:blipFill>
        <p:spPr>
          <a:xfrm>
            <a:off x="7896225" y="0"/>
            <a:ext cx="1247775" cy="762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info@uneecops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295400" y="304800"/>
            <a:ext cx="7848600" cy="24384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dirty="0" smtClean="0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752600" y="990988"/>
            <a:ext cx="7183855" cy="1142612"/>
          </a:xfrm>
        </p:spPr>
        <p:txBody>
          <a:bodyPr/>
          <a:lstStyle/>
          <a:p>
            <a:r>
              <a:rPr lang="en-US" sz="4000" dirty="0" smtClean="0"/>
              <a:t>Project Initiation Report</a:t>
            </a:r>
            <a:endParaRPr lang="en-US" sz="3200" b="0" dirty="0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4795312"/>
            <a:ext cx="2466975" cy="20626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28800" y="3124200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&lt;Project Name&gt;</a:t>
            </a:r>
            <a:endParaRPr lang="en-IN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143000" y="4572000"/>
            <a:ext cx="2743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Project Code: </a:t>
            </a:r>
          </a:p>
          <a:p>
            <a:endParaRPr lang="en-US" dirty="0" smtClean="0"/>
          </a:p>
          <a:p>
            <a:r>
              <a:rPr lang="en-US" dirty="0" smtClean="0"/>
              <a:t>Project Manager: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Project Start Date:</a:t>
            </a:r>
          </a:p>
          <a:p>
            <a:endParaRPr lang="en-US" dirty="0"/>
          </a:p>
          <a:p>
            <a:r>
              <a:rPr lang="en-US" dirty="0" smtClean="0"/>
              <a:t>Project End Date:</a:t>
            </a:r>
          </a:p>
        </p:txBody>
      </p:sp>
    </p:spTree>
    <p:extLst>
      <p:ext uri="{BB962C8B-B14F-4D97-AF65-F5344CB8AC3E}">
        <p14:creationId xmlns:p14="http://schemas.microsoft.com/office/powerpoint/2010/main" val="51863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7" y="152400"/>
            <a:ext cx="8229600" cy="6096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886700" cy="3475435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1800" dirty="0" smtClean="0">
                <a:cs typeface="Arial" panose="020B0604020202020204" pitchFamily="34" charset="0"/>
              </a:rPr>
              <a:t>Project </a:t>
            </a:r>
            <a:r>
              <a:rPr lang="en-US" sz="1800" dirty="0">
                <a:cs typeface="Arial" panose="020B0604020202020204" pitchFamily="34" charset="0"/>
              </a:rPr>
              <a:t>description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Scope of </a:t>
            </a:r>
            <a:r>
              <a:rPr lang="en-US" sz="1800" dirty="0" smtClean="0">
                <a:cs typeface="Arial" panose="020B0604020202020204" pitchFamily="34" charset="0"/>
              </a:rPr>
              <a:t>work</a:t>
            </a:r>
          </a:p>
          <a:p>
            <a:pPr>
              <a:buFont typeface="+mj-lt"/>
              <a:buAutoNum type="arabicPeriod"/>
            </a:pPr>
            <a:r>
              <a:rPr lang="en-US" sz="1800" dirty="0" smtClean="0">
                <a:cs typeface="Arial" panose="020B0604020202020204" pitchFamily="34" charset="0"/>
              </a:rPr>
              <a:t>Estimates</a:t>
            </a:r>
            <a:endParaRPr lang="en-US" sz="1800" dirty="0"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Project schedule/Milestone</a:t>
            </a:r>
          </a:p>
          <a:p>
            <a:pPr>
              <a:buFont typeface="+mj-lt"/>
              <a:buAutoNum type="arabicPeriod"/>
            </a:pPr>
            <a:r>
              <a:rPr lang="en-US" sz="1800" dirty="0" smtClean="0">
                <a:cs typeface="Arial" panose="020B0604020202020204" pitchFamily="34" charset="0"/>
              </a:rPr>
              <a:t>Project </a:t>
            </a:r>
            <a:r>
              <a:rPr lang="en-US" sz="1800" dirty="0">
                <a:cs typeface="Arial" panose="020B0604020202020204" pitchFamily="34" charset="0"/>
              </a:rPr>
              <a:t>Lifecycle and deliverables</a:t>
            </a:r>
          </a:p>
          <a:p>
            <a:pPr>
              <a:buFont typeface="+mj-lt"/>
              <a:buAutoNum type="arabicPeriod"/>
            </a:pPr>
            <a:r>
              <a:rPr lang="en-US" sz="1800" dirty="0" smtClean="0">
                <a:cs typeface="Arial" panose="020B0604020202020204" pitchFamily="34" charset="0"/>
              </a:rPr>
              <a:t>Team </a:t>
            </a:r>
            <a:r>
              <a:rPr lang="en-US" sz="1800" dirty="0">
                <a:cs typeface="Arial" panose="020B0604020202020204" pitchFamily="34" charset="0"/>
              </a:rPr>
              <a:t>Members, Roles and Responsibilities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Stakeholders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Development/Testing/Validation Environment</a:t>
            </a:r>
          </a:p>
          <a:p>
            <a:pPr>
              <a:buFont typeface="+mj-lt"/>
              <a:buAutoNum type="arabicPeriod"/>
            </a:pPr>
            <a:r>
              <a:rPr lang="en-US" sz="1800" dirty="0" smtClean="0">
                <a:cs typeface="Arial" panose="020B0604020202020204" pitchFamily="34" charset="0"/>
              </a:rPr>
              <a:t>Tools </a:t>
            </a:r>
            <a:r>
              <a:rPr lang="en-US" sz="1800" dirty="0">
                <a:cs typeface="Arial" panose="020B0604020202020204" pitchFamily="34" charset="0"/>
              </a:rPr>
              <a:t>Usage</a:t>
            </a:r>
          </a:p>
          <a:p>
            <a:pPr>
              <a:buFont typeface="+mj-lt"/>
              <a:buAutoNum type="arabicPeriod"/>
            </a:pPr>
            <a:r>
              <a:rPr lang="en-US" sz="1800" dirty="0" smtClean="0">
                <a:cs typeface="Arial" panose="020B0604020202020204" pitchFamily="34" charset="0"/>
              </a:rPr>
              <a:t>Assumptions, Dependencies </a:t>
            </a:r>
            <a:r>
              <a:rPr lang="en-US" sz="1800" dirty="0">
                <a:cs typeface="Arial" panose="020B0604020202020204" pitchFamily="34" charset="0"/>
              </a:rPr>
              <a:t>and Constraints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Risks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Training Needs</a:t>
            </a:r>
          </a:p>
          <a:p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Note: Additional information can be included in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2678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6858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Project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1447800"/>
            <a:ext cx="7848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&lt;Mention brief description about the project and its requirements&gt;</a:t>
            </a:r>
          </a:p>
        </p:txBody>
      </p:sp>
    </p:spTree>
    <p:extLst>
      <p:ext uri="{BB962C8B-B14F-4D97-AF65-F5344CB8AC3E}">
        <p14:creationId xmlns:p14="http://schemas.microsoft.com/office/powerpoint/2010/main" val="256894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962900" cy="6096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Scope Of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400" y="1447800"/>
            <a:ext cx="4467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&lt;Mention in scope/out of scope activities&gt;</a:t>
            </a:r>
          </a:p>
        </p:txBody>
      </p:sp>
    </p:spTree>
    <p:extLst>
      <p:ext uri="{BB962C8B-B14F-4D97-AF65-F5344CB8AC3E}">
        <p14:creationId xmlns:p14="http://schemas.microsoft.com/office/powerpoint/2010/main" val="201186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6858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Estimation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295400"/>
            <a:ext cx="4373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&lt;Mention about cost or effort estimation&gt;</a:t>
            </a:r>
          </a:p>
        </p:txBody>
      </p:sp>
    </p:spTree>
    <p:extLst>
      <p:ext uri="{BB962C8B-B14F-4D97-AF65-F5344CB8AC3E}">
        <p14:creationId xmlns:p14="http://schemas.microsoft.com/office/powerpoint/2010/main" val="400886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6858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Project Schedule/Milestones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50" y="1219200"/>
            <a:ext cx="6248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Mention the timelines / milestones for the project.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Mention delivery dates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60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077200" cy="6858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Project Life Cycle and Deliverables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553076"/>
              </p:ext>
            </p:extLst>
          </p:nvPr>
        </p:nvGraphicFramePr>
        <p:xfrm>
          <a:off x="381000" y="1143000"/>
          <a:ext cx="7696201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4140201"/>
                <a:gridCol w="2565400"/>
              </a:tblGrid>
              <a:tr h="10440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S. No.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Life cycle Phases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Deliverables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  <a:tr h="423439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  <a:tr h="553226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  <a:tr h="417638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942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639762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Project Team Members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437689"/>
              </p:ext>
            </p:extLst>
          </p:nvPr>
        </p:nvGraphicFramePr>
        <p:xfrm>
          <a:off x="381000" y="1143000"/>
          <a:ext cx="8077200" cy="2138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1096"/>
                <a:gridCol w="2723704"/>
                <a:gridCol w="2692400"/>
              </a:tblGrid>
              <a:tr h="49927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Team Member Name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Role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Responsibilities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  <a:tr h="818194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Team Member A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Developer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To develop the code, perform</a:t>
                      </a:r>
                      <a:r>
                        <a:rPr lang="en-US" sz="1400" baseline="0" dirty="0" smtClean="0"/>
                        <a:t> peer unit testing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</a:tr>
              <a:tr h="325518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Team Member B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Tester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Develop the</a:t>
                      </a:r>
                      <a:r>
                        <a:rPr lang="en-US" sz="1400" baseline="0" dirty="0" smtClean="0"/>
                        <a:t> test plan, Test case</a:t>
                      </a:r>
                    </a:p>
                    <a:p>
                      <a:r>
                        <a:rPr lang="en-US" sz="1400" baseline="0" dirty="0" smtClean="0"/>
                        <a:t>Perform Testing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</a:tr>
              <a:tr h="325518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62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153400" cy="6858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Stakeholders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821452"/>
              </p:ext>
            </p:extLst>
          </p:nvPr>
        </p:nvGraphicFramePr>
        <p:xfrm>
          <a:off x="381000" y="1143000"/>
          <a:ext cx="7924800" cy="137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/>
                <a:gridCol w="3962400"/>
              </a:tblGrid>
              <a:tr h="47345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Stakeholder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Responsibility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  <a:tr h="2993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  <a:tr h="2993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  <a:tr h="2993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794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6858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Development/Testing/Validation Environment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519128"/>
              </p:ext>
            </p:extLst>
          </p:nvPr>
        </p:nvGraphicFramePr>
        <p:xfrm>
          <a:off x="381000" y="1143000"/>
          <a:ext cx="7696200" cy="42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6862"/>
                <a:gridCol w="5749338"/>
              </a:tblGrid>
              <a:tr h="55257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Environment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Details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  <a:tr h="124015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Development</a:t>
                      </a:r>
                      <a:r>
                        <a:rPr lang="en-US" sz="1400" baseline="0" dirty="0" smtClean="0"/>
                        <a:t> Environment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Windows XP (SP 2)</a:t>
                      </a: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Visual Studio 2005</a:t>
                      </a: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Server 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2005</a:t>
                      </a: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2.8 GHz, 1 GB RAM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20837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Testing Environment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 server (1) - 2GB RAM, 80 GB Hard disk, dual processor server class machine</a:t>
                      </a: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Database server (1) - 2GB RAM, 150 GB Hard disk, dual processor server class  machine</a:t>
                      </a: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Windows 2003 advanced server for servers</a:t>
                      </a: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Windows XP </a:t>
                      </a: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(SP 2) for desktops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3145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4326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6858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Tools Usage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34987"/>
              </p:ext>
            </p:extLst>
          </p:nvPr>
        </p:nvGraphicFramePr>
        <p:xfrm>
          <a:off x="381000" y="1143000"/>
          <a:ext cx="7924801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3124200"/>
                <a:gridCol w="2895601"/>
              </a:tblGrid>
              <a:tr h="5110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Tool</a:t>
                      </a:r>
                      <a:r>
                        <a:rPr lang="en-US" sz="1600" baseline="0" dirty="0" smtClean="0"/>
                        <a:t> Name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Purpose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Project</a:t>
                      </a:r>
                      <a:r>
                        <a:rPr lang="en-US" sz="1600" baseline="0" dirty="0" smtClean="0"/>
                        <a:t> Life Cycle Phase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  <a:tr h="1204178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VSS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Configuration Management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All Phases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</a:tr>
              <a:tr h="2415357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Bugzilla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Defect Management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Testing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</a:tr>
              <a:tr h="28899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9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153400" cy="685800"/>
          </a:xfrm>
        </p:spPr>
        <p:txBody>
          <a:bodyPr>
            <a:normAutofit/>
          </a:bodyPr>
          <a:lstStyle/>
          <a:p>
            <a:pPr algn="l"/>
            <a:r>
              <a:rPr lang="en-US" sz="2700" dirty="0" smtClean="0">
                <a:latin typeface="Arial" panose="020B0604020202020204" pitchFamily="34" charset="0"/>
                <a:cs typeface="Arial" panose="020B0604020202020204" pitchFamily="34" charset="0"/>
              </a:rPr>
              <a:t>Assumption, Dependencies and Constraints</a:t>
            </a: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400458"/>
              </p:ext>
            </p:extLst>
          </p:nvPr>
        </p:nvGraphicFramePr>
        <p:xfrm>
          <a:off x="381000" y="1143000"/>
          <a:ext cx="7696201" cy="2105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962401"/>
              </a:tblGrid>
              <a:tr h="50823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Assumptions,</a:t>
                      </a:r>
                      <a:r>
                        <a:rPr lang="en-US" sz="1600" baseline="0" dirty="0" smtClean="0"/>
                        <a:t> Dependencies and Constraints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Remarks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  <a:tr h="30983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  <a:tr h="30983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</a:tr>
              <a:tr h="30983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</a:tr>
              <a:tr h="30983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</a:tr>
              <a:tr h="30983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89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153400" cy="6858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Risks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563746"/>
              </p:ext>
            </p:extLst>
          </p:nvPr>
        </p:nvGraphicFramePr>
        <p:xfrm>
          <a:off x="381000" y="1143001"/>
          <a:ext cx="8001000" cy="16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2667000"/>
                <a:gridCol w="2667000"/>
              </a:tblGrid>
              <a:tr h="6095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Risk Description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Mitigation</a:t>
                      </a:r>
                      <a:r>
                        <a:rPr lang="en-US" sz="1600" baseline="0" dirty="0" smtClean="0"/>
                        <a:t> Action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Remarks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  <a:tr h="34853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  <a:tr h="34853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</a:tr>
              <a:tr h="34853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36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153400" cy="6858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Training Needs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421983"/>
              </p:ext>
            </p:extLst>
          </p:nvPr>
        </p:nvGraphicFramePr>
        <p:xfrm>
          <a:off x="381000" y="1143001"/>
          <a:ext cx="8001000" cy="16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2667000"/>
                <a:gridCol w="2667000"/>
              </a:tblGrid>
              <a:tr h="6095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Training Needs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Required for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Target Date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  <a:tr h="34853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  <a:tr h="34853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</a:tr>
              <a:tr h="34853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618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257800" y="4572000"/>
            <a:ext cx="3581400" cy="461665"/>
          </a:xfrm>
          <a:prstGeom prst="rect">
            <a:avLst/>
          </a:prstGeom>
          <a:effectLst>
            <a:reflection blurRad="6350" stA="50000" endA="300" endPos="55500" dist="1016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US" sz="3600" b="1" baseline="-25000" dirty="0" smtClean="0">
                <a:solidFill>
                  <a:schemeClr val="bg1"/>
                </a:solidFill>
                <a:ea typeface="ＭＳ Ｐゴシック" charset="-128"/>
              </a:rPr>
              <a:t>THANK YOU</a:t>
            </a:r>
            <a:endParaRPr lang="en-US" sz="3600" b="1" baseline="-25000" dirty="0">
              <a:solidFill>
                <a:schemeClr val="bg1"/>
              </a:solidFill>
              <a:ea typeface="ＭＳ Ｐゴシック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5486400"/>
            <a:ext cx="914400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300" dirty="0">
                <a:ln w="6350" cmpd="sng">
                  <a:solidFill>
                    <a:srgbClr val="F8A602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Arial" pitchFamily="34" charset="0"/>
              </a:rPr>
              <a:t>B</a:t>
            </a:r>
            <a:r>
              <a:rPr lang="en-US" sz="1400" spc="300" dirty="0" smtClean="0">
                <a:ln w="6350" cmpd="sng">
                  <a:solidFill>
                    <a:srgbClr val="F8A602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Arial" pitchFamily="34" charset="0"/>
              </a:rPr>
              <a:t>-59.Sector -63.Noida- 201301</a:t>
            </a:r>
            <a:r>
              <a:rPr lang="en-US" sz="1400" spc="300" dirty="0" smtClean="0">
                <a:ln w="6350" cmpd="sng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Arial" pitchFamily="34" charset="0"/>
              </a:rPr>
              <a:t>| </a:t>
            </a:r>
            <a:r>
              <a:rPr lang="en-US" sz="1400" u="sng" spc="300" dirty="0" smtClean="0">
                <a:ln w="6350" cmpd="sng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Arial" pitchFamily="34" charset="0"/>
              </a:rPr>
              <a:t>www.</a:t>
            </a:r>
            <a:r>
              <a:rPr lang="en-US" sz="1400" u="sng" spc="300" dirty="0" smtClean="0">
                <a:ln w="6350" cmpd="sng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Arial" pitchFamily="34" charset="0"/>
                <a:hlinkClick r:id="rId2"/>
              </a:rPr>
              <a:t>uneecops.com</a:t>
            </a:r>
            <a:r>
              <a:rPr lang="en-US" sz="1400" spc="300" dirty="0" smtClean="0">
                <a:ln w="6350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Arial" pitchFamily="34" charset="0"/>
              </a:rPr>
              <a:t> </a:t>
            </a:r>
            <a:endParaRPr lang="en-US" sz="1400" spc="300" dirty="0">
              <a:ln w="6350" cmpd="sng">
                <a:solidFill>
                  <a:srgbClr val="FFFFFF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cs typeface="Arial" pitchFamily="34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4038600" y="4495800"/>
            <a:ext cx="5105400" cy="914400"/>
            <a:chOff x="0" y="2895600"/>
            <a:chExt cx="9144000" cy="1676400"/>
          </a:xfrm>
        </p:grpSpPr>
        <p:sp>
          <p:nvSpPr>
            <p:cNvPr id="11" name="Rectangle 10"/>
            <p:cNvSpPr/>
            <p:nvPr/>
          </p:nvSpPr>
          <p:spPr>
            <a:xfrm>
              <a:off x="1981200" y="2895600"/>
              <a:ext cx="7162800" cy="1676400"/>
            </a:xfrm>
            <a:prstGeom prst="rect">
              <a:avLst/>
            </a:prstGeom>
            <a:solidFill>
              <a:srgbClr val="2965A7"/>
            </a:solidFill>
            <a:ln>
              <a:solidFill>
                <a:srgbClr val="1E497C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  <a:reflection blurRad="6350" stA="55000" endA="300" endPos="45500" dir="5400000" sy="-100000" algn="bl" rotWithShape="0"/>
                </a:effectLst>
              </a:endParaRPr>
            </a:p>
          </p:txBody>
        </p:sp>
        <p:pic>
          <p:nvPicPr>
            <p:cNvPr id="9" name="Picture 8" descr="83112707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895600"/>
              <a:ext cx="1954075" cy="1676400"/>
            </a:xfrm>
            <a:prstGeom prst="rect">
              <a:avLst/>
            </a:prstGeom>
            <a:ln>
              <a:solidFill>
                <a:srgbClr val="1E497C"/>
              </a:solidFill>
            </a:ln>
          </p:spPr>
        </p:pic>
        <p:sp>
          <p:nvSpPr>
            <p:cNvPr id="12" name="TextBox 11"/>
            <p:cNvSpPr txBox="1"/>
            <p:nvPr/>
          </p:nvSpPr>
          <p:spPr>
            <a:xfrm>
              <a:off x="3275463" y="3314700"/>
              <a:ext cx="4094328" cy="959237"/>
            </a:xfrm>
            <a:prstGeom prst="rect">
              <a:avLst/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bg1"/>
                  </a:solidFill>
                </a:rPr>
                <a:t>Thank You !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1676400"/>
            <a:ext cx="3394786" cy="2838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RMS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HRMS Presentation</Template>
  <TotalTime>248</TotalTime>
  <Words>293</Words>
  <Application>Microsoft Office PowerPoint</Application>
  <PresentationFormat>On-screen Show (4:3)</PresentationFormat>
  <Paragraphs>90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ＭＳ Ｐゴシック</vt:lpstr>
      <vt:lpstr>Arial</vt:lpstr>
      <vt:lpstr>Calibri</vt:lpstr>
      <vt:lpstr>HRMS Presentation</vt:lpstr>
      <vt:lpstr>Project Initiation Report</vt:lpstr>
      <vt:lpstr>Agenda</vt:lpstr>
      <vt:lpstr>Project Description</vt:lpstr>
      <vt:lpstr>Scope Of Work</vt:lpstr>
      <vt:lpstr>Estimation</vt:lpstr>
      <vt:lpstr>Project Schedule/Milestones</vt:lpstr>
      <vt:lpstr>Project Life Cycle and Deliverables</vt:lpstr>
      <vt:lpstr>Project Team Members</vt:lpstr>
      <vt:lpstr>Stakeholders</vt:lpstr>
      <vt:lpstr>Development/Testing/Validation Environment</vt:lpstr>
      <vt:lpstr>Tools Usage</vt:lpstr>
      <vt:lpstr>Assumption, Dependencies and Constraints</vt:lpstr>
      <vt:lpstr>Risks</vt:lpstr>
      <vt:lpstr>Training Needs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UNEECOPS TECHNOLOGIES LTD</dc:title>
  <dc:creator>sys23</dc:creator>
  <cp:keywords>v1.0</cp:keywords>
  <cp:lastModifiedBy>UTL</cp:lastModifiedBy>
  <cp:revision>69</cp:revision>
  <dcterms:created xsi:type="dcterms:W3CDTF">2013-08-13T05:33:23Z</dcterms:created>
  <dcterms:modified xsi:type="dcterms:W3CDTF">2021-10-08T08:06:36Z</dcterms:modified>
</cp:coreProperties>
</file>